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6" r:id="rId2"/>
    <p:sldId id="257" r:id="rId3"/>
    <p:sldId id="258" r:id="rId4"/>
    <p:sldId id="264" r:id="rId5"/>
    <p:sldId id="266" r:id="rId6"/>
    <p:sldId id="259" r:id="rId7"/>
    <p:sldId id="267" r:id="rId8"/>
    <p:sldId id="263" r:id="rId9"/>
    <p:sldId id="265" r:id="rId10"/>
    <p:sldId id="260" r:id="rId11"/>
    <p:sldId id="261" r:id="rId12"/>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BFD1"/>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8" name="Titr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fr-FR" smtClean="0"/>
              <a:t>Cliquez pour modifier le style du titre</a:t>
            </a:r>
            <a:endParaRPr kumimoji="0" lang="en-US"/>
          </a:p>
        </p:txBody>
      </p:sp>
      <p:sp>
        <p:nvSpPr>
          <p:cNvPr id="28" name="Espace réservé de la date 27"/>
          <p:cNvSpPr>
            <a:spLocks noGrp="1"/>
          </p:cNvSpPr>
          <p:nvPr>
            <p:ph type="dt" sz="half" idx="10"/>
          </p:nvPr>
        </p:nvSpPr>
        <p:spPr/>
        <p:txBody>
          <a:bodyPr/>
          <a:lstStyle/>
          <a:p>
            <a:fld id="{AA309A6D-C09C-4548-B29A-6CF363A7E532}" type="datetimeFigureOut">
              <a:rPr lang="fr-FR" smtClean="0"/>
              <a:pPr/>
              <a:t>16/11/2025</a:t>
            </a:fld>
            <a:endParaRPr lang="fr-BE"/>
          </a:p>
        </p:txBody>
      </p:sp>
      <p:sp>
        <p:nvSpPr>
          <p:cNvPr id="17" name="Espace réservé du pied de page 16"/>
          <p:cNvSpPr>
            <a:spLocks noGrp="1"/>
          </p:cNvSpPr>
          <p:nvPr>
            <p:ph type="ftr" sz="quarter" idx="11"/>
          </p:nvPr>
        </p:nvSpPr>
        <p:spPr/>
        <p:txBody>
          <a:bodyPr/>
          <a:lstStyle/>
          <a:p>
            <a:endParaRPr lang="fr-BE"/>
          </a:p>
        </p:txBody>
      </p:sp>
      <p:sp>
        <p:nvSpPr>
          <p:cNvPr id="29" name="Espace réservé du numéro de diapositive 28"/>
          <p:cNvSpPr>
            <a:spLocks noGrp="1"/>
          </p:cNvSpPr>
          <p:nvPr>
            <p:ph type="sldNum" sz="quarter" idx="12"/>
          </p:nvPr>
        </p:nvSpPr>
        <p:spPr/>
        <p:txBody>
          <a:bodyPr/>
          <a:lstStyle/>
          <a:p>
            <a:fld id="{CF4668DC-857F-487D-BFFA-8C0CA5037977}" type="slidenum">
              <a:rPr lang="fr-BE" smtClean="0"/>
              <a:pPr/>
              <a:t>‹N°›</a:t>
            </a:fld>
            <a:endParaRPr lang="fr-BE"/>
          </a:p>
        </p:txBody>
      </p:sp>
      <p:sp>
        <p:nvSpPr>
          <p:cNvPr id="9" name="Sous-titr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contenu 2"/>
          <p:cNvSpPr>
            <a:spLocks noGrp="1"/>
          </p:cNvSpPr>
          <p:nvPr>
            <p:ph idx="1"/>
          </p:nvPr>
        </p:nvSpPr>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AA309A6D-C09C-4548-B29A-6CF363A7E532}" type="datetimeFigureOut">
              <a:rPr lang="fr-FR" smtClean="0"/>
              <a:pPr/>
              <a:t>16/11/2025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3">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p>
            <a:fld id="{AA309A6D-C09C-4548-B29A-6CF363A7E532}" type="datetimeFigureOut">
              <a:rPr lang="fr-FR" smtClean="0"/>
              <a:pPr/>
              <a:t>16/11/2025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a:xfrm>
            <a:off x="7924800" y="6416675"/>
            <a:ext cx="762000" cy="365125"/>
          </a:xfrm>
        </p:spPr>
        <p:txBody>
          <a:bodyPr/>
          <a:lstStyle/>
          <a:p>
            <a:fld id="{CF4668DC-857F-487D-BFFA-8C0CA5037977}" type="slidenum">
              <a:rPr lang="fr-BE" smtClean="0"/>
              <a:pPr/>
              <a:t>‹N°›</a:t>
            </a:fld>
            <a:endParaRPr lang="fr-BE"/>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contenu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contenu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p>
            <a:fld id="{AA309A6D-C09C-4548-B29A-6CF363A7E532}" type="datetimeFigureOut">
              <a:rPr lang="fr-FR" smtClean="0"/>
              <a:pPr/>
              <a:t>16/11/2025</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8229600" cy="1143000"/>
          </a:xfrm>
        </p:spPr>
        <p:txBody>
          <a:bodyPr anchor="ctr"/>
          <a:lstStyle>
            <a:lvl1pPr>
              <a:defRPr/>
            </a:lvl1pPr>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5" name="Espace réservé du contenu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6" name="Espace réservé du contenu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0"/>
          </p:nvPr>
        </p:nvSpPr>
        <p:spPr/>
        <p:txBody>
          <a:bodyPr/>
          <a:lstStyle/>
          <a:p>
            <a:fld id="{AA309A6D-C09C-4548-B29A-6CF363A7E532}" type="datetimeFigureOut">
              <a:rPr lang="fr-FR" smtClean="0"/>
              <a:pPr/>
              <a:t>16/11/2025</a:t>
            </a:fld>
            <a:endParaRPr lang="fr-BE"/>
          </a:p>
        </p:txBody>
      </p:sp>
      <p:sp>
        <p:nvSpPr>
          <p:cNvPr id="8" name="Espace réservé du pied de page 7"/>
          <p:cNvSpPr>
            <a:spLocks noGrp="1"/>
          </p:cNvSpPr>
          <p:nvPr>
            <p:ph type="ftr" sz="quarter" idx="11"/>
          </p:nvPr>
        </p:nvSpPr>
        <p:spPr/>
        <p:txBody>
          <a:bodyPr/>
          <a:lstStyle/>
          <a:p>
            <a:endParaRPr lang="fr-BE"/>
          </a:p>
        </p:txBody>
      </p:sp>
      <p:sp>
        <p:nvSpPr>
          <p:cNvPr id="9" name="Espace réservé du numéro de diapositive 8"/>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AA309A6D-C09C-4548-B29A-6CF363A7E532}" type="datetimeFigureOut">
              <a:rPr lang="fr-FR" smtClean="0"/>
              <a:pPr/>
              <a:t>16/11/2025</a:t>
            </a:fld>
            <a:endParaRPr lang="fr-BE"/>
          </a:p>
        </p:txBody>
      </p:sp>
      <p:sp>
        <p:nvSpPr>
          <p:cNvPr id="4" name="Espace réservé du pied de page 3"/>
          <p:cNvSpPr>
            <a:spLocks noGrp="1"/>
          </p:cNvSpPr>
          <p:nvPr>
            <p:ph type="ftr" sz="quarter" idx="11"/>
          </p:nvPr>
        </p:nvSpPr>
        <p:spPr/>
        <p:txBody>
          <a:bodyPr/>
          <a:lstStyle/>
          <a:p>
            <a:endParaRPr lang="fr-BE"/>
          </a:p>
        </p:txBody>
      </p:sp>
      <p:sp>
        <p:nvSpPr>
          <p:cNvPr id="5" name="Espace réservé du numéro de diapositive 4"/>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AA309A6D-C09C-4548-B29A-6CF363A7E532}" type="datetimeFigureOut">
              <a:rPr lang="fr-FR" smtClean="0"/>
              <a:pPr/>
              <a:t>16/11/2025</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4" name="Espace réservé du contenu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p>
            <a:fld id="{AA309A6D-C09C-4548-B29A-6CF363A7E532}" type="datetimeFigureOut">
              <a:rPr lang="fr-FR" smtClean="0"/>
              <a:pPr/>
              <a:t>16/11/2025</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fr-FR" smtClean="0">
                <a:solidFill>
                  <a:schemeClr val="lt1"/>
                </a:solidFill>
                <a:latin typeface="+mn-lt"/>
                <a:ea typeface="+mn-ea"/>
                <a:cs typeface="+mn-cs"/>
              </a:rPr>
              <a:t>Cliquez sur l'icône pour ajouter une image</a:t>
            </a:r>
            <a:endParaRPr kumimoji="0" lang="en-US" dirty="0">
              <a:solidFill>
                <a:schemeClr val="lt1"/>
              </a:solidFill>
              <a:latin typeface="+mn-lt"/>
              <a:ea typeface="+mn-ea"/>
              <a:cs typeface="+mn-cs"/>
            </a:endParaRPr>
          </a:p>
        </p:txBody>
      </p:sp>
      <p:sp>
        <p:nvSpPr>
          <p:cNvPr id="4" name="Espace réservé du texte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5" name="Espace réservé de la date 4"/>
          <p:cNvSpPr>
            <a:spLocks noGrp="1"/>
          </p:cNvSpPr>
          <p:nvPr>
            <p:ph type="dt" sz="half" idx="10"/>
          </p:nvPr>
        </p:nvSpPr>
        <p:spPr/>
        <p:txBody>
          <a:bodyPr/>
          <a:lstStyle/>
          <a:p>
            <a:fld id="{AA309A6D-C09C-4548-B29A-6CF363A7E532}" type="datetimeFigureOut">
              <a:rPr lang="fr-FR" smtClean="0"/>
              <a:pPr/>
              <a:t>16/11/2025</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AA309A6D-C09C-4548-B29A-6CF363A7E532}" type="datetimeFigureOut">
              <a:rPr lang="fr-FR" smtClean="0"/>
              <a:pPr/>
              <a:t>16/11/2025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AA309A6D-C09C-4548-B29A-6CF363A7E532}" type="datetimeFigureOut">
              <a:rPr lang="fr-FR" smtClean="0"/>
              <a:pPr/>
              <a:t>16/11/2025</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Espace réservé du titre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4" name="Espace réservé de la date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AA309A6D-C09C-4548-B29A-6CF363A7E532}" type="datetimeFigureOut">
              <a:rPr lang="fr-FR" smtClean="0"/>
              <a:pPr/>
              <a:t>16/11/2025</a:t>
            </a:fld>
            <a:endParaRPr lang="fr-BE"/>
          </a:p>
        </p:txBody>
      </p:sp>
      <p:sp>
        <p:nvSpPr>
          <p:cNvPr id="3" name="Espace réservé du pied de page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fr-BE"/>
          </a:p>
        </p:txBody>
      </p:sp>
      <p:sp>
        <p:nvSpPr>
          <p:cNvPr id="23" name="Espace réservé du numéro de diapositive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CF4668DC-857F-487D-BFFA-8C0CA5037977}" type="slidenum">
              <a:rPr lang="fr-BE" smtClean="0"/>
              <a:pPr/>
              <a:t>‹N°›</a:t>
            </a:fld>
            <a:endParaRPr lang="fr-BE"/>
          </a:p>
        </p:txBody>
      </p:sp>
    </p:spTree>
  </p:cSld>
  <p:clrMap bg1="dk1" tx1="lt1" bg2="dk2" tx2="lt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571472" y="500042"/>
            <a:ext cx="8229600" cy="1828800"/>
          </a:xfrm>
        </p:spPr>
        <p:txBody>
          <a:bodyPr/>
          <a:lstStyle/>
          <a:p>
            <a:r>
              <a:rPr lang="fr-FR" dirty="0" smtClean="0"/>
              <a:t>Micro dialyse in vivo</a:t>
            </a:r>
            <a:endParaRPr lang="fr-FR" dirty="0"/>
          </a:p>
        </p:txBody>
      </p:sp>
      <p:sp>
        <p:nvSpPr>
          <p:cNvPr id="3" name="Sous-titre 2"/>
          <p:cNvSpPr>
            <a:spLocks noGrp="1"/>
          </p:cNvSpPr>
          <p:nvPr>
            <p:ph type="subTitle" idx="1"/>
          </p:nvPr>
        </p:nvSpPr>
        <p:spPr>
          <a:xfrm>
            <a:off x="357158" y="2786058"/>
            <a:ext cx="7558118" cy="1383186"/>
          </a:xfrm>
        </p:spPr>
        <p:txBody>
          <a:bodyPr>
            <a:normAutofit/>
          </a:bodyPr>
          <a:lstStyle/>
          <a:p>
            <a:r>
              <a:rPr lang="fr-FR" dirty="0" smtClean="0"/>
              <a:t>Principe et applications physiopathologiques de la </a:t>
            </a:r>
            <a:r>
              <a:rPr lang="fr-FR" dirty="0" err="1" smtClean="0"/>
              <a:t>microdialyse</a:t>
            </a:r>
            <a:endParaRPr lang="fr-FR" dirty="0"/>
          </a:p>
        </p:txBody>
      </p:sp>
    </p:spTree>
  </p:cSld>
  <p:clrMapOvr>
    <a:masterClrMapping/>
  </p:clrMapOvr>
  <p:transition>
    <p:wedg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Introduction </a:t>
            </a:r>
            <a:endParaRPr lang="fr-FR" dirty="0"/>
          </a:p>
        </p:txBody>
      </p:sp>
      <p:sp>
        <p:nvSpPr>
          <p:cNvPr id="3" name="Espace réservé du contenu 2"/>
          <p:cNvSpPr>
            <a:spLocks noGrp="1"/>
          </p:cNvSpPr>
          <p:nvPr>
            <p:ph idx="1"/>
          </p:nvPr>
        </p:nvSpPr>
        <p:spPr/>
        <p:txBody>
          <a:bodyPr/>
          <a:lstStyle/>
          <a:p>
            <a:endParaRPr lang="fr-FR" b="1" dirty="0" smtClean="0"/>
          </a:p>
          <a:p>
            <a:r>
              <a:rPr lang="fr-FR" dirty="0" smtClean="0"/>
              <a:t>La </a:t>
            </a:r>
            <a:r>
              <a:rPr lang="fr-FR" b="1" dirty="0" err="1" smtClean="0"/>
              <a:t>microdialyse</a:t>
            </a:r>
            <a:r>
              <a:rPr lang="fr-FR" dirty="0" smtClean="0"/>
              <a:t> est une technique </a:t>
            </a:r>
            <a:r>
              <a:rPr lang="fr-FR" b="1" dirty="0" smtClean="0"/>
              <a:t>in vivo</a:t>
            </a:r>
            <a:r>
              <a:rPr lang="fr-FR" dirty="0" smtClean="0"/>
              <a:t> permettant de </a:t>
            </a:r>
            <a:r>
              <a:rPr lang="fr-FR" b="1" dirty="0" smtClean="0"/>
              <a:t>prélever et d’analyser les molécules présentes dans le milieu extracellulaire</a:t>
            </a:r>
            <a:r>
              <a:rPr lang="fr-FR" dirty="0" smtClean="0"/>
              <a:t> des tissus vivants (cerveau, muscle, foie, tissu adipeux, etc.), </a:t>
            </a:r>
            <a:r>
              <a:rPr lang="fr-FR" b="1" dirty="0" smtClean="0"/>
              <a:t>sans perturber significativement leur fonctionnement</a:t>
            </a:r>
            <a:r>
              <a:rPr lang="fr-FR" dirty="0" smtClean="0"/>
              <a:t>.</a:t>
            </a:r>
          </a:p>
          <a:p>
            <a:endParaRPr lang="fr-FR" dirty="0"/>
          </a:p>
        </p:txBody>
      </p:sp>
      <p:sp>
        <p:nvSpPr>
          <p:cNvPr id="4" name="Flèche droite 3"/>
          <p:cNvSpPr/>
          <p:nvPr/>
        </p:nvSpPr>
        <p:spPr>
          <a:xfrm>
            <a:off x="214282" y="2214554"/>
            <a:ext cx="785818" cy="3571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ransition spd="med">
    <p:diamon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71604" y="0"/>
            <a:ext cx="7086600" cy="1828800"/>
          </a:xfrm>
        </p:spPr>
        <p:txBody>
          <a:bodyPr>
            <a:normAutofit/>
          </a:bodyPr>
          <a:lstStyle/>
          <a:p>
            <a:r>
              <a:rPr lang="fr-FR" dirty="0" smtClean="0"/>
              <a:t>1. Principe de base</a:t>
            </a:r>
            <a:br>
              <a:rPr lang="fr-FR" dirty="0" smtClean="0"/>
            </a:br>
            <a:endParaRPr lang="fr-FR" dirty="0"/>
          </a:p>
        </p:txBody>
      </p:sp>
      <p:sp>
        <p:nvSpPr>
          <p:cNvPr id="3" name="Espace réservé du texte 2"/>
          <p:cNvSpPr>
            <a:spLocks noGrp="1"/>
          </p:cNvSpPr>
          <p:nvPr>
            <p:ph type="body" idx="1"/>
          </p:nvPr>
        </p:nvSpPr>
        <p:spPr>
          <a:xfrm>
            <a:off x="714348" y="1571612"/>
            <a:ext cx="6143668" cy="2000264"/>
          </a:xfrm>
        </p:spPr>
        <p:txBody>
          <a:bodyPr>
            <a:normAutofit/>
          </a:bodyPr>
          <a:lstStyle/>
          <a:p>
            <a:endParaRPr lang="fr-FR" sz="2400" dirty="0" smtClean="0"/>
          </a:p>
          <a:p>
            <a:endParaRPr lang="fr-FR" sz="2200" dirty="0"/>
          </a:p>
        </p:txBody>
      </p:sp>
      <p:pic>
        <p:nvPicPr>
          <p:cNvPr id="8194" name="Picture 2" descr="figure 1"/>
          <p:cNvPicPr>
            <a:picLocks noChangeAspect="1" noChangeArrowheads="1"/>
          </p:cNvPicPr>
          <p:nvPr/>
        </p:nvPicPr>
        <p:blipFill>
          <a:blip r:embed="rId2"/>
          <a:srcRect/>
          <a:stretch>
            <a:fillRect/>
          </a:stretch>
        </p:blipFill>
        <p:spPr bwMode="auto">
          <a:xfrm>
            <a:off x="714348" y="3857628"/>
            <a:ext cx="6524625" cy="2667000"/>
          </a:xfrm>
          <a:prstGeom prst="rect">
            <a:avLst/>
          </a:prstGeom>
          <a:noFill/>
        </p:spPr>
      </p:pic>
      <p:sp>
        <p:nvSpPr>
          <p:cNvPr id="5" name="Rectangle 4"/>
          <p:cNvSpPr/>
          <p:nvPr/>
        </p:nvSpPr>
        <p:spPr>
          <a:xfrm>
            <a:off x="642910" y="1285860"/>
            <a:ext cx="5715040" cy="23574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b="1" dirty="0" smtClean="0"/>
              <a:t>Une sonde semi-perméable est implantée dans le tissu.</a:t>
            </a:r>
            <a:r>
              <a:rPr lang="fr-FR" sz="1400" b="1" dirty="0" smtClean="0"/>
              <a:t> . Principe </a:t>
            </a:r>
            <a:r>
              <a:rPr lang="fr-FR" sz="1400" b="1" dirty="0" smtClean="0"/>
              <a:t>de base</a:t>
            </a:r>
            <a:r>
              <a:rPr lang="fr-FR" sz="1400" dirty="0" smtClean="0"/>
              <a:t/>
            </a:r>
            <a:br>
              <a:rPr lang="fr-FR" sz="1400" dirty="0" smtClean="0"/>
            </a:br>
            <a:endParaRPr lang="fr-FR" dirty="0" smtClean="0"/>
          </a:p>
          <a:p>
            <a:r>
              <a:rPr lang="fr-FR" b="1" dirty="0" smtClean="0"/>
              <a:t>Un liquide de perfusion circule à débit constant.</a:t>
            </a:r>
          </a:p>
          <a:p>
            <a:r>
              <a:rPr lang="fr-FR" b="1" dirty="0" smtClean="0"/>
              <a:t>Les molécules diffusent selon leur gradient de concentration.</a:t>
            </a:r>
          </a:p>
          <a:p>
            <a:r>
              <a:rPr lang="fr-FR" dirty="0" smtClean="0"/>
              <a:t>Le </a:t>
            </a:r>
            <a:r>
              <a:rPr lang="fr-FR" b="1" dirty="0" smtClean="0"/>
              <a:t>dialysat collecté</a:t>
            </a:r>
            <a:r>
              <a:rPr lang="fr-FR" dirty="0" smtClean="0"/>
              <a:t> représente le milieu extracellulaire</a:t>
            </a:r>
          </a:p>
        </p:txBody>
      </p:sp>
    </p:spTree>
  </p:cSld>
  <p:clrMapOvr>
    <a:masterClrMapping/>
  </p:clrMapOvr>
  <p:transition spd="med">
    <p:dissolv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II. Applications physiopathologiques</a:t>
            </a:r>
            <a:endParaRPr lang="fr-FR" dirty="0"/>
          </a:p>
        </p:txBody>
      </p:sp>
      <p:sp>
        <p:nvSpPr>
          <p:cNvPr id="3" name="Espace réservé du contenu 2"/>
          <p:cNvSpPr>
            <a:spLocks noGrp="1"/>
          </p:cNvSpPr>
          <p:nvPr>
            <p:ph idx="1"/>
          </p:nvPr>
        </p:nvSpPr>
        <p:spPr>
          <a:xfrm>
            <a:off x="-1214478" y="2000240"/>
            <a:ext cx="5757874" cy="2630666"/>
          </a:xfrm>
        </p:spPr>
        <p:txBody>
          <a:bodyPr>
            <a:normAutofit/>
          </a:bodyPr>
          <a:lstStyle/>
          <a:p>
            <a:pPr lvl="8"/>
            <a:r>
              <a:rPr lang="fr-FR" sz="1800" dirty="0" smtClean="0">
                <a:solidFill>
                  <a:schemeClr val="bg1"/>
                </a:solidFill>
              </a:rPr>
              <a:t>Applications en neurosciences</a:t>
            </a:r>
          </a:p>
          <a:p>
            <a:pPr lvl="6"/>
            <a:r>
              <a:rPr lang="fr-FR" sz="2000" dirty="0" smtClean="0">
                <a:solidFill>
                  <a:schemeClr val="bg1"/>
                </a:solidFill>
              </a:rPr>
              <a:t>Applications en pharmacologie</a:t>
            </a:r>
          </a:p>
          <a:p>
            <a:pPr lvl="6"/>
            <a:r>
              <a:rPr lang="fr-FR" sz="2000" dirty="0" smtClean="0">
                <a:solidFill>
                  <a:schemeClr val="bg1"/>
                </a:solidFill>
              </a:rPr>
              <a:t>En physiologie musculaire et métabolique</a:t>
            </a:r>
          </a:p>
          <a:p>
            <a:pPr lvl="6"/>
            <a:r>
              <a:rPr lang="fr-FR" sz="2000" dirty="0" smtClean="0">
                <a:solidFill>
                  <a:schemeClr val="bg1"/>
                </a:solidFill>
              </a:rPr>
              <a:t>Applications en recherche métabolique</a:t>
            </a:r>
          </a:p>
          <a:p>
            <a:pPr lvl="6"/>
            <a:r>
              <a:rPr lang="fr-FR" sz="2000" dirty="0" smtClean="0">
                <a:solidFill>
                  <a:schemeClr val="bg1"/>
                </a:solidFill>
              </a:rPr>
              <a:t>Autres domaines d’application</a:t>
            </a:r>
            <a:endParaRPr lang="fr-FR" sz="2000" b="1" dirty="0" smtClean="0">
              <a:solidFill>
                <a:schemeClr val="bg1"/>
              </a:solidFill>
            </a:endParaRPr>
          </a:p>
        </p:txBody>
      </p:sp>
      <p:sp>
        <p:nvSpPr>
          <p:cNvPr id="8194" name="AutoShape 2" descr="Image généré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pic>
        <p:nvPicPr>
          <p:cNvPr id="7" name="Image 6" descr="0841e6ad-e186-456d-9e23-bdb799669219.png"/>
          <p:cNvPicPr>
            <a:picLocks noChangeAspect="1"/>
          </p:cNvPicPr>
          <p:nvPr/>
        </p:nvPicPr>
        <p:blipFill>
          <a:blip r:embed="rId2" cstate="print"/>
          <a:stretch>
            <a:fillRect/>
          </a:stretch>
        </p:blipFill>
        <p:spPr>
          <a:xfrm>
            <a:off x="4429092" y="3429000"/>
            <a:ext cx="4714908" cy="3143272"/>
          </a:xfrm>
          <a:prstGeom prst="rect">
            <a:avLst/>
          </a:prstGeom>
        </p:spPr>
      </p:pic>
    </p:spTree>
  </p:cSld>
  <p:clrMapOvr>
    <a:masterClrMapping/>
  </p:clrMapOvr>
  <p:transition spd="med">
    <p:pull dir="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pPr lvl="6" algn="l" rtl="0">
              <a:spcBef>
                <a:spcPct val="0"/>
              </a:spcBef>
            </a:pPr>
            <a:r>
              <a:rPr lang="fr-FR" sz="2000" dirty="0" smtClean="0"/>
              <a:t/>
            </a:r>
            <a:br>
              <a:rPr lang="fr-FR" sz="2000" dirty="0" smtClean="0"/>
            </a:br>
            <a:endParaRPr lang="fr-FR" dirty="0"/>
          </a:p>
        </p:txBody>
      </p:sp>
      <p:sp>
        <p:nvSpPr>
          <p:cNvPr id="3" name="Espace réservé du texte 2"/>
          <p:cNvSpPr>
            <a:spLocks noGrp="1"/>
          </p:cNvSpPr>
          <p:nvPr>
            <p:ph type="body" idx="2"/>
          </p:nvPr>
        </p:nvSpPr>
        <p:spPr>
          <a:xfrm>
            <a:off x="457200" y="1285860"/>
            <a:ext cx="5043494" cy="4840303"/>
          </a:xfrm>
        </p:spPr>
        <p:txBody>
          <a:bodyPr/>
          <a:lstStyle/>
          <a:p>
            <a:endParaRPr lang="fr-FR" b="1" dirty="0" smtClean="0">
              <a:solidFill>
                <a:schemeClr val="bg1"/>
              </a:solidFill>
            </a:endParaRPr>
          </a:p>
          <a:p>
            <a:r>
              <a:rPr lang="fr-FR" sz="1600" dirty="0" smtClean="0">
                <a:solidFill>
                  <a:schemeClr val="bg1"/>
                </a:solidFill>
              </a:rPr>
              <a:t>✔️ </a:t>
            </a:r>
            <a:r>
              <a:rPr lang="fr-FR" sz="1600" b="1" dirty="0" smtClean="0">
                <a:solidFill>
                  <a:schemeClr val="bg1"/>
                </a:solidFill>
              </a:rPr>
              <a:t>En neurosciences, la </a:t>
            </a:r>
            <a:r>
              <a:rPr lang="fr-FR" sz="1600" b="1" dirty="0" smtClean="0">
                <a:solidFill>
                  <a:schemeClr val="bg1"/>
                </a:solidFill>
              </a:rPr>
              <a:t>micro dialyse </a:t>
            </a:r>
            <a:r>
              <a:rPr lang="fr-FR" sz="1600" b="1" dirty="0" smtClean="0">
                <a:solidFill>
                  <a:schemeClr val="bg1"/>
                </a:solidFill>
              </a:rPr>
              <a:t>permet de mesurer en temps réel les neurotransmetteurs dans différentes zones du cerveau.</a:t>
            </a:r>
            <a:endParaRPr lang="fr-FR" sz="1600" dirty="0" smtClean="0">
              <a:solidFill>
                <a:schemeClr val="bg1"/>
              </a:solidFill>
            </a:endParaRPr>
          </a:p>
          <a:p>
            <a:r>
              <a:rPr lang="fr-FR" sz="1600" dirty="0" smtClean="0">
                <a:solidFill>
                  <a:schemeClr val="bg1"/>
                </a:solidFill>
              </a:rPr>
              <a:t>✔️ </a:t>
            </a:r>
            <a:r>
              <a:rPr lang="fr-FR" sz="1600" b="1" dirty="0" smtClean="0">
                <a:solidFill>
                  <a:schemeClr val="bg1"/>
                </a:solidFill>
              </a:rPr>
              <a:t>Elle est essentielle pour étudier les troubles neurologiques tels que Parkinson, la dépression, la schizophrénie et l’épilepsie.</a:t>
            </a:r>
            <a:endParaRPr lang="fr-FR" sz="1600" dirty="0" smtClean="0">
              <a:solidFill>
                <a:schemeClr val="bg1"/>
              </a:solidFill>
            </a:endParaRPr>
          </a:p>
          <a:p>
            <a:r>
              <a:rPr lang="fr-FR" sz="1600" dirty="0" smtClean="0">
                <a:solidFill>
                  <a:schemeClr val="bg1"/>
                </a:solidFill>
              </a:rPr>
              <a:t>✔️ </a:t>
            </a:r>
            <a:r>
              <a:rPr lang="fr-FR" sz="1600" b="1" dirty="0" smtClean="0">
                <a:solidFill>
                  <a:schemeClr val="bg1"/>
                </a:solidFill>
              </a:rPr>
              <a:t>La technique aide aussi à comprendre les mécanismes de la mémoire, du comportement et du sommeil.</a:t>
            </a:r>
            <a:endParaRPr lang="fr-FR" sz="1600" dirty="0" smtClean="0">
              <a:solidFill>
                <a:schemeClr val="bg1"/>
              </a:solidFill>
            </a:endParaRPr>
          </a:p>
          <a:p>
            <a:endParaRPr lang="fr-FR" sz="1600" dirty="0">
              <a:solidFill>
                <a:schemeClr val="bg1"/>
              </a:solidFill>
            </a:endParaRPr>
          </a:p>
        </p:txBody>
      </p:sp>
      <p:sp>
        <p:nvSpPr>
          <p:cNvPr id="4" name="Espace réservé du contenu 3"/>
          <p:cNvSpPr>
            <a:spLocks noGrp="1"/>
          </p:cNvSpPr>
          <p:nvPr>
            <p:ph sz="half" idx="1"/>
          </p:nvPr>
        </p:nvSpPr>
        <p:spPr>
          <a:xfrm>
            <a:off x="1785918" y="571480"/>
            <a:ext cx="4972056" cy="727057"/>
          </a:xfrm>
        </p:spPr>
        <p:txBody>
          <a:bodyPr>
            <a:normAutofit fontScale="92500" lnSpcReduction="20000"/>
          </a:bodyPr>
          <a:lstStyle/>
          <a:p>
            <a:r>
              <a:rPr lang="fr-FR" sz="2800" b="1" dirty="0" smtClean="0">
                <a:solidFill>
                  <a:schemeClr val="tx1">
                    <a:lumMod val="95000"/>
                  </a:schemeClr>
                </a:solidFill>
              </a:rPr>
              <a:t>Applications en neurosciences</a:t>
            </a:r>
            <a:endParaRPr lang="fr-FR" b="1" dirty="0"/>
          </a:p>
        </p:txBody>
      </p:sp>
      <p:pic>
        <p:nvPicPr>
          <p:cNvPr id="5" name="Image 4" descr="8921515b-8d17-4231-ac38-3d4d74caaf57.png"/>
          <p:cNvPicPr>
            <a:picLocks noChangeAspect="1"/>
          </p:cNvPicPr>
          <p:nvPr/>
        </p:nvPicPr>
        <p:blipFill>
          <a:blip r:embed="rId2" cstate="print"/>
          <a:stretch>
            <a:fillRect/>
          </a:stretch>
        </p:blipFill>
        <p:spPr>
          <a:xfrm>
            <a:off x="4572000" y="4238584"/>
            <a:ext cx="3929124" cy="2619416"/>
          </a:xfrm>
          <a:prstGeom prst="rect">
            <a:avLst/>
          </a:prstGeom>
        </p:spPr>
      </p:pic>
    </p:spTree>
  </p:cSld>
  <p:clrMapOvr>
    <a:masterClrMapping/>
  </p:clrMapOvr>
  <p:transition spd="med">
    <p:checke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solidFill>
                  <a:schemeClr val="bg1"/>
                </a:solidFill>
              </a:rPr>
              <a:t> En pharmacologie</a:t>
            </a:r>
            <a:br>
              <a:rPr lang="fr-FR" dirty="0" smtClean="0">
                <a:solidFill>
                  <a:schemeClr val="bg1"/>
                </a:solidFill>
              </a:rPr>
            </a:br>
            <a:endParaRPr lang="fr-FR" dirty="0"/>
          </a:p>
        </p:txBody>
      </p:sp>
      <p:sp>
        <p:nvSpPr>
          <p:cNvPr id="3" name="Espace réservé du contenu 2"/>
          <p:cNvSpPr>
            <a:spLocks noGrp="1"/>
          </p:cNvSpPr>
          <p:nvPr>
            <p:ph idx="1"/>
          </p:nvPr>
        </p:nvSpPr>
        <p:spPr>
          <a:xfrm>
            <a:off x="457200" y="1600200"/>
            <a:ext cx="4329114" cy="3543312"/>
          </a:xfrm>
        </p:spPr>
        <p:txBody>
          <a:bodyPr>
            <a:normAutofit fontScale="92500" lnSpcReduction="20000"/>
          </a:bodyPr>
          <a:lstStyle/>
          <a:p>
            <a:r>
              <a:rPr lang="fr-FR" b="1" dirty="0" smtClean="0"/>
              <a:t>la </a:t>
            </a:r>
            <a:r>
              <a:rPr lang="fr-FR" b="1" dirty="0" err="1" smtClean="0"/>
              <a:t>microdialyse</a:t>
            </a:r>
            <a:r>
              <a:rPr lang="fr-FR" b="1" dirty="0" smtClean="0"/>
              <a:t> permet de suivre la pharmacocinétique des médicaments directement dans les tissus cibles, offrant une approche plus pertinente que les simples dosages plasmatiques.</a:t>
            </a:r>
            <a:endParaRPr lang="fr-FR" dirty="0" smtClean="0"/>
          </a:p>
          <a:p>
            <a:endParaRPr lang="fr-FR" dirty="0"/>
          </a:p>
        </p:txBody>
      </p:sp>
      <p:sp>
        <p:nvSpPr>
          <p:cNvPr id="7170" name="AutoShape 2" descr="https://chatgpt.com/backend-api/estuary/content?id=file_000000007cb8722fb0b8f1e7f037ec67&amp;ts=489760&amp;p=fs&amp;cid=1&amp;sig=fd5092177758c830e1cf81271d86b49d746f301f78be6da97e2d9a7d3ca84615&amp;v=0"/>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sp>
        <p:nvSpPr>
          <p:cNvPr id="7172" name="AutoShape 4" descr="https://chatgpt.com/backend-api/estuary/content?id=file_000000007cb8722fb0b8f1e7f037ec67&amp;ts=489760&amp;p=fs&amp;cid=1&amp;sig=fd5092177758c830e1cf81271d86b49d746f301f78be6da97e2d9a7d3ca84615&amp;v=0"/>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fr-FR"/>
          </a:p>
        </p:txBody>
      </p:sp>
      <p:pic>
        <p:nvPicPr>
          <p:cNvPr id="7" name="Image 6" descr="e6aa379c-a412-434b-b36e-788b3d19927d.png123.png"/>
          <p:cNvPicPr>
            <a:picLocks noChangeAspect="1"/>
          </p:cNvPicPr>
          <p:nvPr/>
        </p:nvPicPr>
        <p:blipFill>
          <a:blip r:embed="rId2" cstate="print"/>
          <a:stretch>
            <a:fillRect/>
          </a:stretch>
        </p:blipFill>
        <p:spPr>
          <a:xfrm>
            <a:off x="4572000" y="3500438"/>
            <a:ext cx="4286280" cy="2857520"/>
          </a:xfrm>
          <a:prstGeom prst="rect">
            <a:avLst/>
          </a:prstGeom>
        </p:spPr>
      </p:pic>
    </p:spTree>
  </p:cSld>
  <p:clrMapOvr>
    <a:masterClrMapping/>
  </p:clrMapOvr>
  <p:transition spd="slow">
    <p:checker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En physiologie musculaire et métabolique</a:t>
            </a:r>
            <a:endParaRPr lang="fr-FR" dirty="0"/>
          </a:p>
        </p:txBody>
      </p:sp>
      <p:sp>
        <p:nvSpPr>
          <p:cNvPr id="3" name="Espace réservé du contenu 2"/>
          <p:cNvSpPr>
            <a:spLocks noGrp="1"/>
          </p:cNvSpPr>
          <p:nvPr>
            <p:ph idx="1"/>
          </p:nvPr>
        </p:nvSpPr>
        <p:spPr/>
        <p:txBody>
          <a:bodyPr/>
          <a:lstStyle/>
          <a:p>
            <a:r>
              <a:rPr lang="fr-FR" dirty="0" smtClean="0"/>
              <a:t>la technique permet d’évaluer les variations locales de substrats énergétiques (glucose, lactate) lors d’un exercice, d’un stress, ou d’une pathologie comme le diabète. Elle peut également être appliquée dans le tissu adipeux, pour étudier le métabolisme des lipides ou les réponses hormonales locales.</a:t>
            </a:r>
            <a:endParaRPr lang="fr-FR" dirty="0"/>
          </a:p>
        </p:txBody>
      </p:sp>
    </p:spTree>
  </p:cSld>
  <p:clrMapOvr>
    <a:masterClrMapping/>
  </p:clrMapOvr>
  <p:transition spd="med">
    <p:wedg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Applications en recherche métabolique</a:t>
            </a:r>
            <a:endParaRPr lang="fr-FR" dirty="0"/>
          </a:p>
        </p:txBody>
      </p:sp>
      <p:sp>
        <p:nvSpPr>
          <p:cNvPr id="3" name="Espace réservé du contenu 2"/>
          <p:cNvSpPr>
            <a:spLocks noGrp="1"/>
          </p:cNvSpPr>
          <p:nvPr>
            <p:ph idx="1"/>
          </p:nvPr>
        </p:nvSpPr>
        <p:spPr/>
        <p:txBody>
          <a:bodyPr>
            <a:normAutofit fontScale="92500" lnSpcReduction="20000"/>
          </a:bodyPr>
          <a:lstStyle/>
          <a:p>
            <a:r>
              <a:rPr lang="fr-FR" dirty="0" smtClean="0"/>
              <a:t>Suivi </a:t>
            </a:r>
            <a:r>
              <a:rPr lang="fr-FR" b="1" dirty="0" smtClean="0"/>
              <a:t>continu</a:t>
            </a:r>
            <a:r>
              <a:rPr lang="fr-FR" dirty="0" smtClean="0"/>
              <a:t> des variations des métabolites dans le tissu.</a:t>
            </a:r>
          </a:p>
          <a:p>
            <a:r>
              <a:rPr lang="fr-FR" dirty="0" smtClean="0"/>
              <a:t>Fournit une </a:t>
            </a:r>
            <a:r>
              <a:rPr lang="fr-FR" b="1" dirty="0" smtClean="0"/>
              <a:t>fenêtre directe</a:t>
            </a:r>
            <a:r>
              <a:rPr lang="fr-FR" dirty="0" smtClean="0"/>
              <a:t> sur le métabolisme local.</a:t>
            </a:r>
          </a:p>
          <a:p>
            <a:r>
              <a:rPr lang="fr-FR" dirty="0" smtClean="0"/>
              <a:t>Mesure la production et la consommation de :</a:t>
            </a:r>
          </a:p>
          <a:p>
            <a:r>
              <a:rPr lang="fr-FR" dirty="0" smtClean="0"/>
              <a:t>Glucose</a:t>
            </a:r>
          </a:p>
          <a:p>
            <a:r>
              <a:rPr lang="fr-FR" dirty="0" smtClean="0"/>
              <a:t>Lactate</a:t>
            </a:r>
          </a:p>
          <a:p>
            <a:r>
              <a:rPr lang="fr-FR" dirty="0" smtClean="0"/>
              <a:t>Acides aminés</a:t>
            </a:r>
          </a:p>
          <a:p>
            <a:r>
              <a:rPr lang="fr-FR" dirty="0" smtClean="0"/>
              <a:t>Autres petites molécules énergétiques</a:t>
            </a:r>
          </a:p>
          <a:p>
            <a:r>
              <a:rPr lang="fr-FR" dirty="0" smtClean="0"/>
              <a:t>Utile pour comprendre les </a:t>
            </a:r>
            <a:r>
              <a:rPr lang="fr-FR" b="1" dirty="0" smtClean="0"/>
              <a:t>adaptations métaboliques</a:t>
            </a:r>
            <a:r>
              <a:rPr lang="fr-FR" dirty="0" smtClean="0"/>
              <a:t> :</a:t>
            </a:r>
          </a:p>
          <a:p>
            <a:r>
              <a:rPr lang="fr-FR" dirty="0" smtClean="0"/>
              <a:t>Efforts physiques</a:t>
            </a:r>
          </a:p>
          <a:p>
            <a:pPr>
              <a:buNone/>
            </a:pPr>
            <a:endParaRPr lang="fr-FR" dirty="0"/>
          </a:p>
        </p:txBody>
      </p:sp>
    </p:spTree>
  </p:cSld>
  <p:clrMapOvr>
    <a:masterClrMapping/>
  </p:clrMapOvr>
  <p:transition>
    <p:dissolv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smtClean="0"/>
              <a:t>Autres domaines d’application</a:t>
            </a:r>
            <a:endParaRPr lang="fr-FR" dirty="0"/>
          </a:p>
        </p:txBody>
      </p:sp>
      <p:sp>
        <p:nvSpPr>
          <p:cNvPr id="3" name="Espace réservé du contenu 2"/>
          <p:cNvSpPr>
            <a:spLocks noGrp="1"/>
          </p:cNvSpPr>
          <p:nvPr>
            <p:ph idx="1"/>
          </p:nvPr>
        </p:nvSpPr>
        <p:spPr/>
        <p:txBody>
          <a:bodyPr>
            <a:normAutofit fontScale="92500" lnSpcReduction="10000"/>
          </a:bodyPr>
          <a:lstStyle/>
          <a:p>
            <a:r>
              <a:rPr lang="fr-FR" b="1" dirty="0" smtClean="0">
                <a:solidFill>
                  <a:schemeClr val="bg1"/>
                </a:solidFill>
              </a:rPr>
              <a:t>Dermatologie</a:t>
            </a:r>
            <a:r>
              <a:rPr lang="fr-FR" dirty="0" smtClean="0">
                <a:solidFill>
                  <a:schemeClr val="bg1"/>
                </a:solidFill>
              </a:rPr>
              <a:t> :</a:t>
            </a:r>
          </a:p>
          <a:p>
            <a:pPr lvl="1"/>
            <a:r>
              <a:rPr lang="fr-FR" dirty="0" smtClean="0"/>
              <a:t>Étude des médiateurs inflammatoires dans la peau</a:t>
            </a:r>
          </a:p>
          <a:p>
            <a:pPr lvl="1"/>
            <a:r>
              <a:rPr lang="fr-FR" dirty="0" smtClean="0"/>
              <a:t>Comprendre réactions allergiques, </a:t>
            </a:r>
            <a:r>
              <a:rPr lang="fr-FR" dirty="0" smtClean="0"/>
              <a:t>eczéma</a:t>
            </a:r>
            <a:endParaRPr lang="fr-FR" dirty="0" smtClean="0"/>
          </a:p>
          <a:p>
            <a:r>
              <a:rPr lang="fr-FR" b="1" dirty="0" smtClean="0">
                <a:solidFill>
                  <a:schemeClr val="bg1"/>
                </a:solidFill>
              </a:rPr>
              <a:t>Toxicologie</a:t>
            </a:r>
            <a:r>
              <a:rPr lang="fr-FR" dirty="0" smtClean="0">
                <a:solidFill>
                  <a:schemeClr val="bg1"/>
                </a:solidFill>
              </a:rPr>
              <a:t> :</a:t>
            </a:r>
          </a:p>
          <a:p>
            <a:pPr lvl="1"/>
            <a:r>
              <a:rPr lang="fr-FR" dirty="0" smtClean="0"/>
              <a:t>Suivi en temps réel des toxines ou métabolites dans les tissus</a:t>
            </a:r>
          </a:p>
          <a:p>
            <a:r>
              <a:rPr lang="fr-FR" b="1" dirty="0" smtClean="0">
                <a:solidFill>
                  <a:schemeClr val="bg1"/>
                </a:solidFill>
              </a:rPr>
              <a:t>Recherche sur la douleur</a:t>
            </a:r>
            <a:r>
              <a:rPr lang="fr-FR" dirty="0" smtClean="0">
                <a:solidFill>
                  <a:schemeClr val="bg1"/>
                </a:solidFill>
              </a:rPr>
              <a:t> :</a:t>
            </a:r>
          </a:p>
          <a:p>
            <a:pPr lvl="1"/>
            <a:r>
              <a:rPr lang="fr-FR" dirty="0" smtClean="0"/>
              <a:t>Mesure des médiateurs chimiques liés à la douleur</a:t>
            </a:r>
          </a:p>
          <a:p>
            <a:r>
              <a:rPr lang="fr-FR" b="1" dirty="0" smtClean="0">
                <a:solidFill>
                  <a:schemeClr val="bg1"/>
                </a:solidFill>
              </a:rPr>
              <a:t>Immunologie</a:t>
            </a:r>
            <a:r>
              <a:rPr lang="fr-FR" dirty="0" smtClean="0">
                <a:solidFill>
                  <a:schemeClr val="bg1"/>
                </a:solidFill>
              </a:rPr>
              <a:t> </a:t>
            </a:r>
            <a:r>
              <a:rPr lang="fr-FR" dirty="0" smtClean="0">
                <a:solidFill>
                  <a:schemeClr val="bg1"/>
                </a:solidFill>
              </a:rPr>
              <a:t>:</a:t>
            </a:r>
          </a:p>
          <a:p>
            <a:pPr lvl="1"/>
            <a:r>
              <a:rPr lang="fr-FR" dirty="0" smtClean="0"/>
              <a:t>Surveillance locale des cytokines et autres facteurs inflammatoires</a:t>
            </a:r>
          </a:p>
          <a:p>
            <a:pPr lvl="1"/>
            <a:r>
              <a:rPr lang="fr-FR" dirty="0" smtClean="0"/>
              <a:t>Application dans les tissus infectés ou lésés</a:t>
            </a:r>
          </a:p>
          <a:p>
            <a:endParaRPr lang="fr-FR"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conclusion</a:t>
            </a:r>
            <a:endParaRPr lang="fr-FR" dirty="0"/>
          </a:p>
        </p:txBody>
      </p:sp>
      <p:sp>
        <p:nvSpPr>
          <p:cNvPr id="3" name="Espace réservé du contenu 2"/>
          <p:cNvSpPr>
            <a:spLocks noGrp="1"/>
          </p:cNvSpPr>
          <p:nvPr>
            <p:ph idx="1"/>
          </p:nvPr>
        </p:nvSpPr>
        <p:spPr/>
        <p:txBody>
          <a:bodyPr>
            <a:normAutofit/>
          </a:bodyPr>
          <a:lstStyle/>
          <a:p>
            <a:endParaRPr lang="fr-FR" b="1" dirty="0" smtClean="0"/>
          </a:p>
          <a:p>
            <a:r>
              <a:rPr lang="fr-FR" dirty="0" smtClean="0"/>
              <a:t>La </a:t>
            </a:r>
            <a:r>
              <a:rPr lang="fr-FR" dirty="0" err="1" smtClean="0"/>
              <a:t>microdialyse</a:t>
            </a:r>
            <a:r>
              <a:rPr lang="fr-FR" dirty="0" smtClean="0"/>
              <a:t> est une méthode moderne et efficace pour étudier en temps réel le métabolisme et les processus pathologiques.</a:t>
            </a:r>
            <a:br>
              <a:rPr lang="fr-FR" dirty="0" smtClean="0"/>
            </a:br>
            <a:r>
              <a:rPr lang="fr-FR" dirty="0" smtClean="0"/>
              <a:t>Elle permet une meilleure compréhension des mécanismes biochimiques locaux.</a:t>
            </a:r>
          </a:p>
          <a:p>
            <a:endParaRPr lang="fr-FR"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28596" y="2428868"/>
            <a:ext cx="8229600" cy="1143000"/>
          </a:xfrm>
        </p:spPr>
        <p:txBody>
          <a:bodyPr/>
          <a:lstStyle/>
          <a:p>
            <a:r>
              <a:rPr lang="fr-FR" dirty="0" smtClean="0"/>
              <a:t>Merci pour votre attention </a:t>
            </a:r>
            <a:endParaRPr lang="fr-FR" dirty="0"/>
          </a:p>
        </p:txBody>
      </p:sp>
      <p:sp>
        <p:nvSpPr>
          <p:cNvPr id="3" name="Espace réservé du contenu 2"/>
          <p:cNvSpPr>
            <a:spLocks noGrp="1"/>
          </p:cNvSpPr>
          <p:nvPr>
            <p:ph idx="1"/>
          </p:nvPr>
        </p:nvSpPr>
        <p:spPr>
          <a:xfrm>
            <a:off x="1885928" y="4500570"/>
            <a:ext cx="7258072" cy="1214446"/>
          </a:xfrm>
        </p:spPr>
        <p:txBody>
          <a:bodyPr>
            <a:normAutofit fontScale="92500" lnSpcReduction="20000"/>
          </a:bodyPr>
          <a:lstStyle/>
          <a:p>
            <a:r>
              <a:rPr lang="fr-FR" b="1" dirty="0" smtClean="0">
                <a:solidFill>
                  <a:schemeClr val="bg1"/>
                </a:solidFill>
              </a:rPr>
              <a:t>Amara </a:t>
            </a:r>
            <a:r>
              <a:rPr lang="fr-FR" b="1" dirty="0" err="1" smtClean="0">
                <a:solidFill>
                  <a:schemeClr val="bg1"/>
                </a:solidFill>
              </a:rPr>
              <a:t>besmala</a:t>
            </a:r>
            <a:r>
              <a:rPr lang="fr-FR" b="1" dirty="0" smtClean="0">
                <a:solidFill>
                  <a:schemeClr val="bg1"/>
                </a:solidFill>
              </a:rPr>
              <a:t> </a:t>
            </a:r>
            <a:endParaRPr lang="fr-FR" b="1" dirty="0" smtClean="0">
              <a:solidFill>
                <a:schemeClr val="bg1"/>
              </a:solidFill>
            </a:endParaRPr>
          </a:p>
          <a:p>
            <a:r>
              <a:rPr lang="fr-FR" b="1" dirty="0" smtClean="0">
                <a:solidFill>
                  <a:schemeClr val="bg1"/>
                </a:solidFill>
              </a:rPr>
              <a:t>Group:01</a:t>
            </a:r>
            <a:endParaRPr lang="fr-FR" b="1" dirty="0" smtClean="0">
              <a:solidFill>
                <a:schemeClr val="bg1"/>
              </a:solidFill>
            </a:endParaRPr>
          </a:p>
          <a:p>
            <a:r>
              <a:rPr lang="fr-FR" b="1" dirty="0" smtClean="0">
                <a:solidFill>
                  <a:schemeClr val="bg1"/>
                </a:solidFill>
              </a:rPr>
              <a:t>A </a:t>
            </a:r>
            <a:r>
              <a:rPr lang="fr-FR" b="1" dirty="0" smtClean="0">
                <a:solidFill>
                  <a:schemeClr val="bg1"/>
                </a:solidFill>
              </a:rPr>
              <a:t>Dr </a:t>
            </a:r>
            <a:r>
              <a:rPr lang="fr-FR" b="1" dirty="0" smtClean="0">
                <a:solidFill>
                  <a:schemeClr val="bg1"/>
                </a:solidFill>
              </a:rPr>
              <a:t>athmani </a:t>
            </a:r>
            <a:endParaRPr lang="fr-FR" b="1" dirty="0">
              <a:solidFill>
                <a:schemeClr val="bg1"/>
              </a:solidFill>
            </a:endParaRPr>
          </a:p>
        </p:txBody>
      </p:sp>
    </p:spTree>
  </p:cSld>
  <p:clrMapOvr>
    <a:masterClrMapping/>
  </p:clrMapOvr>
  <p:transition spd="slow">
    <p:circl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117</TotalTime>
  <Words>380</Words>
  <PresentationFormat>Affichage à l'écran (4:3)</PresentationFormat>
  <Paragraphs>54</Paragraphs>
  <Slides>11</Slides>
  <Notes>0</Notes>
  <HiddenSlides>0</HiddenSlides>
  <MMClips>0</MMClips>
  <ScaleCrop>false</ScaleCrop>
  <HeadingPairs>
    <vt:vector size="4" baseType="variant">
      <vt:variant>
        <vt:lpstr>Thème</vt:lpstr>
      </vt:variant>
      <vt:variant>
        <vt:i4>1</vt:i4>
      </vt:variant>
      <vt:variant>
        <vt:lpstr>Titres des diapositives</vt:lpstr>
      </vt:variant>
      <vt:variant>
        <vt:i4>11</vt:i4>
      </vt:variant>
    </vt:vector>
  </HeadingPairs>
  <TitlesOfParts>
    <vt:vector size="12" baseType="lpstr">
      <vt:lpstr>Apex</vt:lpstr>
      <vt:lpstr>Micro dialyse in vivo</vt:lpstr>
      <vt:lpstr>Introduction </vt:lpstr>
      <vt:lpstr>1. Principe de base </vt:lpstr>
      <vt:lpstr>II. Applications physiopathologiques</vt:lpstr>
      <vt:lpstr> </vt:lpstr>
      <vt:lpstr> En pharmacologie </vt:lpstr>
      <vt:lpstr>En physiologie musculaire et métabolique</vt:lpstr>
      <vt:lpstr>Applications en recherche métabolique</vt:lpstr>
      <vt:lpstr>Autres domaines d’application</vt:lpstr>
      <vt:lpstr>conclusion</vt:lpstr>
      <vt:lpstr>Merci pour votre attention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soumia</dc:creator>
  <cp:lastModifiedBy>soumia</cp:lastModifiedBy>
  <cp:revision>113</cp:revision>
  <dcterms:created xsi:type="dcterms:W3CDTF">2025-11-13T12:06:54Z</dcterms:created>
  <dcterms:modified xsi:type="dcterms:W3CDTF">2025-11-16T18:19:08Z</dcterms:modified>
</cp:coreProperties>
</file>